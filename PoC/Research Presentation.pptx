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E0757B-8875-46A8-911A-5A58E72B68D7}">
  <a:tblStyle styleId="{BAE0757B-8875-46A8-911A-5A58E72B68D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11" Type="http://schemas.openxmlformats.org/officeDocument/2006/relationships/slide" Target="slides/slide5.xml"/><Relationship Id="rId10" Type="http://schemas.openxmlformats.org/officeDocument/2006/relationships/slide" Target="slides/slide4.xml"/><Relationship Id="rId12" Type="http://schemas.openxmlformats.org/officeDocument/2006/relationships/slide" Target="slides/slide6.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e210f3f512_0_1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e210f3f512_0_1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e210f3f512_0_1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e210f3f512_0_1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210f3f512_0_1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e210f3f512_0_1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210f3f512_0_1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210f3f512_0_1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210f3f512_0_1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210f3f512_0_1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1071926" y="245650"/>
            <a:ext cx="7219500" cy="1334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5000">
                <a:latin typeface="Georgia"/>
                <a:ea typeface="Georgia"/>
                <a:cs typeface="Georgia"/>
                <a:sym typeface="Georgia"/>
              </a:rPr>
              <a:t>COPA Airlines for POC</a:t>
            </a:r>
            <a:endParaRPr sz="5000">
              <a:latin typeface="Georgia"/>
              <a:ea typeface="Georgia"/>
              <a:cs typeface="Georgia"/>
              <a:sym typeface="Georgia"/>
            </a:endParaRPr>
          </a:p>
        </p:txBody>
      </p:sp>
      <p:sp>
        <p:nvSpPr>
          <p:cNvPr id="55" name="Google Shape;55;p13"/>
          <p:cNvSpPr txBox="1"/>
          <p:nvPr>
            <p:ph idx="1" type="subTitle"/>
          </p:nvPr>
        </p:nvSpPr>
        <p:spPr>
          <a:xfrm>
            <a:off x="1071925" y="1710425"/>
            <a:ext cx="7219500" cy="3255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440"/>
              <a:buNone/>
            </a:pPr>
            <a:r>
              <a:rPr lang="en" sz="1420">
                <a:solidFill>
                  <a:schemeClr val="dk1"/>
                </a:solidFill>
                <a:latin typeface="Georgia"/>
                <a:ea typeface="Georgia"/>
                <a:cs typeface="Georgia"/>
                <a:sym typeface="Georgia"/>
              </a:rPr>
              <a:t>Amal Jadoon &amp; Catalina Pena</a:t>
            </a:r>
            <a:endParaRPr sz="1420">
              <a:solidFill>
                <a:schemeClr val="dk1"/>
              </a:solidFill>
              <a:latin typeface="Georgia"/>
              <a:ea typeface="Georgia"/>
              <a:cs typeface="Georgia"/>
              <a:sym typeface="Georgia"/>
            </a:endParaRPr>
          </a:p>
        </p:txBody>
      </p:sp>
      <p:pic>
        <p:nvPicPr>
          <p:cNvPr id="56" name="Google Shape;56;p13" title="aeronave-copa-airlines.png"/>
          <p:cNvPicPr preferRelativeResize="0"/>
          <p:nvPr/>
        </p:nvPicPr>
        <p:blipFill>
          <a:blip r:embed="rId3">
            <a:alphaModFix/>
          </a:blip>
          <a:stretch>
            <a:fillRect/>
          </a:stretch>
        </p:blipFill>
        <p:spPr>
          <a:xfrm>
            <a:off x="1281425" y="2295750"/>
            <a:ext cx="6391149" cy="1933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820">
                <a:latin typeface="Georgia"/>
                <a:ea typeface="Georgia"/>
                <a:cs typeface="Georgia"/>
                <a:sym typeface="Georgia"/>
              </a:rPr>
              <a:t>Context</a:t>
            </a:r>
            <a:endParaRPr sz="2820">
              <a:latin typeface="Georgia"/>
              <a:ea typeface="Georgia"/>
              <a:cs typeface="Georgia"/>
              <a:sym typeface="Georgia"/>
            </a:endParaRPr>
          </a:p>
        </p:txBody>
      </p:sp>
      <p:sp>
        <p:nvSpPr>
          <p:cNvPr id="62" name="Google Shape;62;p14"/>
          <p:cNvSpPr txBox="1"/>
          <p:nvPr>
            <p:ph idx="1" type="body"/>
          </p:nvPr>
        </p:nvSpPr>
        <p:spPr>
          <a:xfrm>
            <a:off x="311700" y="1176000"/>
            <a:ext cx="4951800" cy="3729900"/>
          </a:xfrm>
          <a:prstGeom prst="rect">
            <a:avLst/>
          </a:prstGeom>
        </p:spPr>
        <p:txBody>
          <a:bodyPr anchorCtr="0" anchor="t" bIns="91425" lIns="91425" spcFirstLastPara="1" rIns="91425" wrap="square" tIns="91425">
            <a:normAutofit fontScale="85000"/>
          </a:bodyPr>
          <a:lstStyle/>
          <a:p>
            <a:pPr indent="0" lvl="0" marL="0" rtl="0" algn="l">
              <a:spcBef>
                <a:spcPts val="1200"/>
              </a:spcBef>
              <a:spcAft>
                <a:spcPts val="0"/>
              </a:spcAft>
              <a:buClr>
                <a:schemeClr val="dk1"/>
              </a:buClr>
              <a:buSzPct val="78119"/>
              <a:buFont typeface="Arial"/>
              <a:buNone/>
            </a:pPr>
            <a:r>
              <a:rPr lang="en" sz="1408">
                <a:solidFill>
                  <a:schemeClr val="dk1"/>
                </a:solidFill>
                <a:latin typeface="Georgia"/>
                <a:ea typeface="Georgia"/>
                <a:cs typeface="Georgia"/>
                <a:sym typeface="Georgia"/>
              </a:rPr>
              <a:t>Modern organizations face increasing regulatory and operational complexity, with many required to comply with multiple frameworks at once (Coalfire, 2023).</a:t>
            </a:r>
            <a:endParaRPr sz="1408">
              <a:solidFill>
                <a:schemeClr val="dk1"/>
              </a:solidFill>
              <a:latin typeface="Georgia"/>
              <a:ea typeface="Georgia"/>
              <a:cs typeface="Georgia"/>
              <a:sym typeface="Georgia"/>
            </a:endParaRPr>
          </a:p>
          <a:p>
            <a:pPr indent="0" lvl="0" marL="0" rtl="0" algn="l">
              <a:spcBef>
                <a:spcPts val="1200"/>
              </a:spcBef>
              <a:spcAft>
                <a:spcPts val="0"/>
              </a:spcAft>
              <a:buClr>
                <a:schemeClr val="dk1"/>
              </a:buClr>
              <a:buSzPct val="78119"/>
              <a:buFont typeface="Arial"/>
              <a:buNone/>
            </a:pPr>
            <a:r>
              <a:rPr lang="en" sz="1408">
                <a:solidFill>
                  <a:schemeClr val="dk1"/>
                </a:solidFill>
                <a:latin typeface="Georgia"/>
                <a:ea typeface="Georgia"/>
                <a:cs typeface="Georgia"/>
                <a:sym typeface="Georgia"/>
              </a:rPr>
              <a:t>Traditional manual assessment processes have several limitations:</a:t>
            </a:r>
            <a:endParaRPr sz="1408">
              <a:solidFill>
                <a:schemeClr val="dk1"/>
              </a:solidFill>
              <a:latin typeface="Georgia"/>
              <a:ea typeface="Georgia"/>
              <a:cs typeface="Georgia"/>
              <a:sym typeface="Georgia"/>
            </a:endParaRPr>
          </a:p>
          <a:p>
            <a:pPr indent="-304603" lvl="0" marL="457200" rtl="0" algn="l">
              <a:spcBef>
                <a:spcPts val="1200"/>
              </a:spcBef>
              <a:spcAft>
                <a:spcPts val="0"/>
              </a:spcAft>
              <a:buClr>
                <a:schemeClr val="dk1"/>
              </a:buClr>
              <a:buSzPct val="100000"/>
              <a:buFont typeface="Georgia"/>
              <a:buChar char="●"/>
            </a:pPr>
            <a:r>
              <a:rPr lang="en" sz="1408">
                <a:solidFill>
                  <a:schemeClr val="dk1"/>
                </a:solidFill>
                <a:latin typeface="Georgia"/>
                <a:ea typeface="Georgia"/>
                <a:cs typeface="Georgia"/>
                <a:sym typeface="Georgia"/>
              </a:rPr>
              <a:t>Time and resource intensive</a:t>
            </a:r>
            <a:endParaRPr sz="1408">
              <a:solidFill>
                <a:schemeClr val="dk1"/>
              </a:solidFill>
              <a:latin typeface="Georgia"/>
              <a:ea typeface="Georgia"/>
              <a:cs typeface="Georgia"/>
              <a:sym typeface="Georgia"/>
            </a:endParaRPr>
          </a:p>
          <a:p>
            <a:pPr indent="-304603" lvl="0" marL="457200" rtl="0" algn="l">
              <a:spcBef>
                <a:spcPts val="0"/>
              </a:spcBef>
              <a:spcAft>
                <a:spcPts val="0"/>
              </a:spcAft>
              <a:buClr>
                <a:schemeClr val="dk1"/>
              </a:buClr>
              <a:buSzPct val="100000"/>
              <a:buFont typeface="Georgia"/>
              <a:buChar char="●"/>
            </a:pPr>
            <a:r>
              <a:rPr lang="en" sz="1408">
                <a:solidFill>
                  <a:schemeClr val="dk1"/>
                </a:solidFill>
                <a:latin typeface="Georgia"/>
                <a:ea typeface="Georgia"/>
                <a:cs typeface="Georgia"/>
                <a:sym typeface="Georgia"/>
              </a:rPr>
              <a:t>Inconsistent results between evaluators</a:t>
            </a:r>
            <a:endParaRPr sz="1408">
              <a:solidFill>
                <a:schemeClr val="dk1"/>
              </a:solidFill>
              <a:latin typeface="Georgia"/>
              <a:ea typeface="Georgia"/>
              <a:cs typeface="Georgia"/>
              <a:sym typeface="Georgia"/>
            </a:endParaRPr>
          </a:p>
          <a:p>
            <a:pPr indent="-304603" lvl="0" marL="457200" rtl="0" algn="l">
              <a:spcBef>
                <a:spcPts val="0"/>
              </a:spcBef>
              <a:spcAft>
                <a:spcPts val="0"/>
              </a:spcAft>
              <a:buClr>
                <a:schemeClr val="dk1"/>
              </a:buClr>
              <a:buSzPct val="100000"/>
              <a:buFont typeface="Georgia"/>
              <a:buChar char="●"/>
            </a:pPr>
            <a:r>
              <a:rPr lang="en" sz="1408">
                <a:solidFill>
                  <a:schemeClr val="dk1"/>
                </a:solidFill>
                <a:latin typeface="Georgia"/>
                <a:ea typeface="Georgia"/>
                <a:cs typeface="Georgia"/>
                <a:sym typeface="Georgia"/>
              </a:rPr>
              <a:t>Performed periodically, not continuously</a:t>
            </a:r>
            <a:endParaRPr sz="1408">
              <a:solidFill>
                <a:schemeClr val="dk1"/>
              </a:solidFill>
              <a:latin typeface="Georgia"/>
              <a:ea typeface="Georgia"/>
              <a:cs typeface="Georgia"/>
              <a:sym typeface="Georgia"/>
            </a:endParaRPr>
          </a:p>
          <a:p>
            <a:pPr indent="-304603" lvl="0" marL="457200" rtl="0" algn="l">
              <a:spcBef>
                <a:spcPts val="0"/>
              </a:spcBef>
              <a:spcAft>
                <a:spcPts val="0"/>
              </a:spcAft>
              <a:buClr>
                <a:schemeClr val="dk1"/>
              </a:buClr>
              <a:buSzPct val="100000"/>
              <a:buFont typeface="Georgia"/>
              <a:buChar char="●"/>
            </a:pPr>
            <a:r>
              <a:rPr lang="en" sz="1408">
                <a:solidFill>
                  <a:schemeClr val="dk1"/>
                </a:solidFill>
                <a:latin typeface="Georgia"/>
                <a:ea typeface="Georgia"/>
                <a:cs typeface="Georgia"/>
                <a:sym typeface="Georgia"/>
              </a:rPr>
              <a:t>Difficult to compare across frameworks</a:t>
            </a:r>
            <a:endParaRPr sz="1408">
              <a:solidFill>
                <a:schemeClr val="dk1"/>
              </a:solidFill>
              <a:latin typeface="Georgia"/>
              <a:ea typeface="Georgia"/>
              <a:cs typeface="Georgia"/>
              <a:sym typeface="Georgia"/>
            </a:endParaRPr>
          </a:p>
          <a:p>
            <a:pPr indent="-304603" lvl="0" marL="457200" rtl="0" algn="l">
              <a:spcBef>
                <a:spcPts val="0"/>
              </a:spcBef>
              <a:spcAft>
                <a:spcPts val="0"/>
              </a:spcAft>
              <a:buClr>
                <a:schemeClr val="dk1"/>
              </a:buClr>
              <a:buSzPct val="100000"/>
              <a:buFont typeface="Georgia"/>
              <a:buChar char="●"/>
            </a:pPr>
            <a:r>
              <a:rPr lang="en" sz="1408">
                <a:solidFill>
                  <a:schemeClr val="dk1"/>
                </a:solidFill>
                <a:latin typeface="Georgia"/>
                <a:ea typeface="Georgia"/>
                <a:cs typeface="Georgia"/>
                <a:sym typeface="Georgia"/>
              </a:rPr>
              <a:t>Poor scalability</a:t>
            </a:r>
            <a:endParaRPr sz="1408">
              <a:solidFill>
                <a:schemeClr val="dk1"/>
              </a:solidFill>
              <a:latin typeface="Georgia"/>
              <a:ea typeface="Georgia"/>
              <a:cs typeface="Georgia"/>
              <a:sym typeface="Georgia"/>
            </a:endParaRPr>
          </a:p>
          <a:p>
            <a:pPr indent="-304603" lvl="0" marL="457200" rtl="0" algn="l">
              <a:spcBef>
                <a:spcPts val="0"/>
              </a:spcBef>
              <a:spcAft>
                <a:spcPts val="0"/>
              </a:spcAft>
              <a:buClr>
                <a:schemeClr val="dk1"/>
              </a:buClr>
              <a:buSzPct val="100000"/>
              <a:buFont typeface="Georgia"/>
              <a:buChar char="●"/>
            </a:pPr>
            <a:r>
              <a:rPr lang="en" sz="1408">
                <a:solidFill>
                  <a:schemeClr val="dk1"/>
                </a:solidFill>
                <a:latin typeface="Georgia"/>
                <a:ea typeface="Georgia"/>
                <a:cs typeface="Georgia"/>
                <a:sym typeface="Georgia"/>
              </a:rPr>
              <a:t>Limited traceability</a:t>
            </a:r>
            <a:endParaRPr sz="1408">
              <a:solidFill>
                <a:schemeClr val="dk1"/>
              </a:solidFill>
              <a:latin typeface="Georgia"/>
              <a:ea typeface="Georgia"/>
              <a:cs typeface="Georgia"/>
              <a:sym typeface="Georgia"/>
            </a:endParaRPr>
          </a:p>
          <a:p>
            <a:pPr indent="0" lvl="0" marL="0" rtl="0" algn="l">
              <a:spcBef>
                <a:spcPts val="1200"/>
              </a:spcBef>
              <a:spcAft>
                <a:spcPts val="0"/>
              </a:spcAft>
              <a:buClr>
                <a:schemeClr val="dk1"/>
              </a:buClr>
              <a:buSzPct val="78119"/>
              <a:buFont typeface="Arial"/>
              <a:buNone/>
            </a:pPr>
            <a:r>
              <a:rPr lang="en" sz="1408">
                <a:solidFill>
                  <a:schemeClr val="dk1"/>
                </a:solidFill>
                <a:latin typeface="Georgia"/>
                <a:ea typeface="Georgia"/>
                <a:cs typeface="Georgia"/>
                <a:sym typeface="Georgia"/>
              </a:rPr>
              <a:t>The proposed solution uses language models and a RAG architecture to analyze organizational policies and controls, identifying compliance coverage, gaps, and maturity levels with supporting evidence.</a:t>
            </a:r>
            <a:endParaRPr sz="1408">
              <a:solidFill>
                <a:schemeClr val="dk1"/>
              </a:solidFill>
              <a:latin typeface="Georgia"/>
              <a:ea typeface="Georgia"/>
              <a:cs typeface="Georgia"/>
              <a:sym typeface="Georgia"/>
            </a:endParaRPr>
          </a:p>
          <a:p>
            <a:pPr indent="0" lvl="0" marL="0" rtl="0" algn="l">
              <a:spcBef>
                <a:spcPts val="1200"/>
              </a:spcBef>
              <a:spcAft>
                <a:spcPts val="1200"/>
              </a:spcAft>
              <a:buClr>
                <a:schemeClr val="dk1"/>
              </a:buClr>
              <a:buSzPct val="100000"/>
              <a:buFont typeface="Arial"/>
              <a:buNone/>
            </a:pPr>
            <a:r>
              <a:t/>
            </a:r>
            <a:endParaRPr sz="1100">
              <a:solidFill>
                <a:schemeClr val="dk1"/>
              </a:solidFill>
            </a:endParaRPr>
          </a:p>
        </p:txBody>
      </p:sp>
      <p:pic>
        <p:nvPicPr>
          <p:cNvPr id="63" name="Google Shape;63;p14"/>
          <p:cNvPicPr preferRelativeResize="0"/>
          <p:nvPr/>
        </p:nvPicPr>
        <p:blipFill>
          <a:blip r:embed="rId3">
            <a:alphaModFix/>
          </a:blip>
          <a:stretch>
            <a:fillRect/>
          </a:stretch>
        </p:blipFill>
        <p:spPr>
          <a:xfrm>
            <a:off x="5382150" y="1824675"/>
            <a:ext cx="3497675" cy="177970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67" name="Shape 67"/>
        <p:cNvGrpSpPr/>
        <p:nvPr/>
      </p:nvGrpSpPr>
      <p:grpSpPr>
        <a:xfrm>
          <a:off x="0" y="0"/>
          <a:ext cx="0" cy="0"/>
          <a:chOff x="0" y="0"/>
          <a:chExt cx="0" cy="0"/>
        </a:xfrm>
      </p:grpSpPr>
      <p:sp>
        <p:nvSpPr>
          <p:cNvPr id="68" name="Google Shape;68;p15"/>
          <p:cNvSpPr txBox="1"/>
          <p:nvPr>
            <p:ph type="title"/>
          </p:nvPr>
        </p:nvSpPr>
        <p:spPr>
          <a:xfrm>
            <a:off x="311700" y="3024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820">
                <a:latin typeface="Georgia"/>
                <a:ea typeface="Georgia"/>
                <a:cs typeface="Georgia"/>
                <a:sym typeface="Georgia"/>
              </a:rPr>
              <a:t>Summary</a:t>
            </a:r>
            <a:endParaRPr sz="2820">
              <a:latin typeface="Georgia"/>
              <a:ea typeface="Georgia"/>
              <a:cs typeface="Georgia"/>
              <a:sym typeface="Georgia"/>
            </a:endParaRPr>
          </a:p>
        </p:txBody>
      </p:sp>
      <p:sp>
        <p:nvSpPr>
          <p:cNvPr id="69" name="Google Shape;69;p15"/>
          <p:cNvSpPr txBox="1"/>
          <p:nvPr>
            <p:ph idx="1" type="body"/>
          </p:nvPr>
        </p:nvSpPr>
        <p:spPr>
          <a:xfrm>
            <a:off x="311700" y="1017725"/>
            <a:ext cx="4914900" cy="4018800"/>
          </a:xfrm>
          <a:prstGeom prst="rect">
            <a:avLst/>
          </a:prstGeom>
        </p:spPr>
        <p:txBody>
          <a:bodyPr anchorCtr="0" anchor="t" bIns="91425" lIns="91425" spcFirstLastPara="1" rIns="91425" wrap="square" tIns="91425">
            <a:normAutofit fontScale="70000" lnSpcReduction="20000"/>
          </a:bodyPr>
          <a:lstStyle/>
          <a:p>
            <a:pPr indent="0" lvl="0" marL="0" rtl="0" algn="l">
              <a:spcBef>
                <a:spcPts val="1200"/>
              </a:spcBef>
              <a:spcAft>
                <a:spcPts val="0"/>
              </a:spcAft>
              <a:buClr>
                <a:schemeClr val="dk1"/>
              </a:buClr>
              <a:buSzPct val="63115"/>
              <a:buFont typeface="Arial"/>
              <a:buNone/>
            </a:pPr>
            <a:r>
              <a:rPr lang="en" sz="1743">
                <a:solidFill>
                  <a:schemeClr val="dk1"/>
                </a:solidFill>
                <a:latin typeface="Georgia"/>
                <a:ea typeface="Georgia"/>
                <a:cs typeface="Georgia"/>
                <a:sym typeface="Georgia"/>
              </a:rPr>
              <a:t>The proposal aims to establish a collaboration for a pilot of an automated cybersecurity maturity and compliance assessment tool using LLMs, RAG, and semantic policy analysis.</a:t>
            </a:r>
            <a:endParaRPr sz="1743">
              <a:solidFill>
                <a:schemeClr val="dk1"/>
              </a:solidFill>
              <a:latin typeface="Georgia"/>
              <a:ea typeface="Georgia"/>
              <a:cs typeface="Georgia"/>
              <a:sym typeface="Georgia"/>
            </a:endParaRPr>
          </a:p>
          <a:p>
            <a:pPr indent="0" lvl="0" marL="0" rtl="0" algn="l">
              <a:spcBef>
                <a:spcPts val="1200"/>
              </a:spcBef>
              <a:spcAft>
                <a:spcPts val="0"/>
              </a:spcAft>
              <a:buClr>
                <a:schemeClr val="dk1"/>
              </a:buClr>
              <a:buSzPct val="63115"/>
              <a:buFont typeface="Arial"/>
              <a:buNone/>
            </a:pPr>
            <a:r>
              <a:rPr lang="en" sz="1743">
                <a:solidFill>
                  <a:schemeClr val="dk1"/>
                </a:solidFill>
                <a:latin typeface="Georgia"/>
                <a:ea typeface="Georgia"/>
                <a:cs typeface="Georgia"/>
                <a:sym typeface="Georgia"/>
              </a:rPr>
              <a:t>Developed through the Duke Cybersecurity Program, it addresses key Governance, Risk &amp; Compliance challenges in consistently and efficiently evaluating multiple security and regulatory frameworks.</a:t>
            </a:r>
            <a:endParaRPr sz="1743">
              <a:solidFill>
                <a:schemeClr val="dk1"/>
              </a:solidFill>
            </a:endParaRPr>
          </a:p>
          <a:p>
            <a:pPr indent="0" lvl="0" marL="0" rtl="0" algn="l">
              <a:spcBef>
                <a:spcPts val="1200"/>
              </a:spcBef>
              <a:spcAft>
                <a:spcPts val="0"/>
              </a:spcAft>
              <a:buClr>
                <a:schemeClr val="dk1"/>
              </a:buClr>
              <a:buSzPct val="63115"/>
              <a:buFont typeface="Arial"/>
              <a:buNone/>
            </a:pPr>
            <a:r>
              <a:t/>
            </a:r>
            <a:endParaRPr sz="1743">
              <a:solidFill>
                <a:schemeClr val="dk1"/>
              </a:solidFill>
            </a:endParaRPr>
          </a:p>
          <a:p>
            <a:pPr indent="0" lvl="0" marL="0" rtl="0" algn="l">
              <a:spcBef>
                <a:spcPts val="1200"/>
              </a:spcBef>
              <a:spcAft>
                <a:spcPts val="0"/>
              </a:spcAft>
              <a:buClr>
                <a:schemeClr val="dk1"/>
              </a:buClr>
              <a:buSzPct val="63115"/>
              <a:buFont typeface="Arial"/>
              <a:buNone/>
            </a:pPr>
            <a:r>
              <a:t/>
            </a:r>
            <a:endParaRPr sz="1743">
              <a:solidFill>
                <a:schemeClr val="dk1"/>
              </a:solidFill>
            </a:endParaRPr>
          </a:p>
          <a:p>
            <a:pPr indent="0" lvl="0" marL="0" rtl="0" algn="l">
              <a:spcBef>
                <a:spcPts val="1200"/>
              </a:spcBef>
              <a:spcAft>
                <a:spcPts val="0"/>
              </a:spcAft>
              <a:buClr>
                <a:schemeClr val="dk1"/>
              </a:buClr>
              <a:buSzPct val="63115"/>
              <a:buFont typeface="Arial"/>
              <a:buNone/>
            </a:pPr>
            <a:r>
              <a:t/>
            </a:r>
            <a:endParaRPr sz="1743">
              <a:solidFill>
                <a:schemeClr val="dk1"/>
              </a:solidFill>
            </a:endParaRPr>
          </a:p>
          <a:p>
            <a:pPr indent="0" lvl="0" marL="0" rtl="0" algn="l">
              <a:spcBef>
                <a:spcPts val="1200"/>
              </a:spcBef>
              <a:spcAft>
                <a:spcPts val="0"/>
              </a:spcAft>
              <a:buClr>
                <a:schemeClr val="dk1"/>
              </a:buClr>
              <a:buSzPct val="63115"/>
              <a:buFont typeface="Arial"/>
              <a:buNone/>
            </a:pPr>
            <a:r>
              <a:t/>
            </a:r>
            <a:endParaRPr sz="1743">
              <a:solidFill>
                <a:schemeClr val="dk1"/>
              </a:solidFill>
            </a:endParaRPr>
          </a:p>
          <a:p>
            <a:pPr indent="0" lvl="0" marL="0" rtl="0" algn="l">
              <a:spcBef>
                <a:spcPts val="1200"/>
              </a:spcBef>
              <a:spcAft>
                <a:spcPts val="0"/>
              </a:spcAft>
              <a:buClr>
                <a:schemeClr val="dk1"/>
              </a:buClr>
              <a:buSzPct val="63115"/>
              <a:buFont typeface="Arial"/>
              <a:buNone/>
            </a:pPr>
            <a:r>
              <a:t/>
            </a:r>
            <a:endParaRPr sz="1743">
              <a:solidFill>
                <a:schemeClr val="dk1"/>
              </a:solidFill>
              <a:latin typeface="Georgia"/>
              <a:ea typeface="Georgia"/>
              <a:cs typeface="Georgia"/>
              <a:sym typeface="Georgia"/>
            </a:endParaRPr>
          </a:p>
          <a:p>
            <a:pPr indent="0" lvl="0" marL="0" rtl="0" algn="l">
              <a:spcBef>
                <a:spcPts val="1200"/>
              </a:spcBef>
              <a:spcAft>
                <a:spcPts val="0"/>
              </a:spcAft>
              <a:buClr>
                <a:schemeClr val="dk1"/>
              </a:buClr>
              <a:buSzPct val="63115"/>
              <a:buFont typeface="Arial"/>
              <a:buNone/>
            </a:pPr>
            <a:r>
              <a:rPr lang="en" sz="1743">
                <a:solidFill>
                  <a:schemeClr val="dk1"/>
                </a:solidFill>
                <a:latin typeface="Georgia"/>
                <a:ea typeface="Georgia"/>
                <a:cs typeface="Georgia"/>
                <a:sym typeface="Georgia"/>
              </a:rPr>
              <a:t>The tool produces structured outputs including maturity assessments, gap analyses, traceable evidence, prioritized recommendations, and domain-based security scoring.</a:t>
            </a:r>
            <a:endParaRPr sz="1743">
              <a:solidFill>
                <a:schemeClr val="dk1"/>
              </a:solidFill>
              <a:latin typeface="Georgia"/>
              <a:ea typeface="Georgia"/>
              <a:cs typeface="Georgia"/>
              <a:sym typeface="Georgia"/>
            </a:endParaRPr>
          </a:p>
          <a:p>
            <a:pPr indent="0" lvl="0" marL="0" rtl="0" algn="l">
              <a:spcBef>
                <a:spcPts val="1200"/>
              </a:spcBef>
              <a:spcAft>
                <a:spcPts val="1200"/>
              </a:spcAft>
              <a:buClr>
                <a:schemeClr val="dk1"/>
              </a:buClr>
              <a:buSzPct val="100000"/>
              <a:buFont typeface="Arial"/>
              <a:buNone/>
            </a:pPr>
            <a:r>
              <a:t/>
            </a:r>
            <a:endParaRPr sz="1100">
              <a:solidFill>
                <a:schemeClr val="dk1"/>
              </a:solidFill>
            </a:endParaRPr>
          </a:p>
        </p:txBody>
      </p:sp>
      <p:graphicFrame>
        <p:nvGraphicFramePr>
          <p:cNvPr id="70" name="Google Shape;70;p15"/>
          <p:cNvGraphicFramePr/>
          <p:nvPr/>
        </p:nvGraphicFramePr>
        <p:xfrm>
          <a:off x="370450" y="2655663"/>
          <a:ext cx="3000000" cy="3000000"/>
        </p:xfrm>
        <a:graphic>
          <a:graphicData uri="http://schemas.openxmlformats.org/drawingml/2006/table">
            <a:tbl>
              <a:tblPr>
                <a:noFill/>
                <a:tableStyleId>{BAE0757B-8875-46A8-911A-5A58E72B68D7}</a:tableStyleId>
              </a:tblPr>
              <a:tblGrid>
                <a:gridCol w="2134675"/>
                <a:gridCol w="2134675"/>
              </a:tblGrid>
              <a:tr h="1164200">
                <a:tc>
                  <a:txBody>
                    <a:bodyPr/>
                    <a:lstStyle/>
                    <a:p>
                      <a:pPr indent="0" lvl="0" marL="0" rtl="0" algn="l">
                        <a:spcBef>
                          <a:spcPts val="0"/>
                        </a:spcBef>
                        <a:spcAft>
                          <a:spcPts val="0"/>
                        </a:spcAft>
                        <a:buNone/>
                      </a:pPr>
                      <a:r>
                        <a:rPr lang="en" sz="1000">
                          <a:latin typeface="Georgia"/>
                          <a:ea typeface="Georgia"/>
                          <a:cs typeface="Georgia"/>
                          <a:sym typeface="Georgia"/>
                        </a:rPr>
                        <a:t>The system analyzes organizational documents such as: security policies, technical standards, procedures, operational guidelines, internal controls, compliance guides, internal frameworks. </a:t>
                      </a:r>
                      <a:endParaRPr sz="1000">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 sz="1000">
                          <a:latin typeface="Georgia"/>
                          <a:ea typeface="Georgia"/>
                          <a:cs typeface="Georgia"/>
                          <a:sym typeface="Georgia"/>
                        </a:rPr>
                        <a:t>And compares them against frameworks such as NIST </a:t>
                      </a:r>
                      <a:r>
                        <a:rPr lang="en" sz="1000">
                          <a:latin typeface="Georgia"/>
                          <a:ea typeface="Georgia"/>
                          <a:cs typeface="Georgia"/>
                          <a:sym typeface="Georgia"/>
                        </a:rPr>
                        <a:t>Cybersecurity</a:t>
                      </a:r>
                      <a:r>
                        <a:rPr lang="en" sz="1000">
                          <a:latin typeface="Georgia"/>
                          <a:ea typeface="Georgia"/>
                          <a:cs typeface="Georgia"/>
                          <a:sym typeface="Georgia"/>
                        </a:rPr>
                        <a:t> Framework 2.0, NIST SP 800-53, ISO 27001, CIS Controls, PCI DSS, CMMC, HIPAA, CSA CCM, FTC Safeguards Rule.</a:t>
                      </a:r>
                      <a:endParaRPr sz="1000">
                        <a:latin typeface="Georgia"/>
                        <a:ea typeface="Georgia"/>
                        <a:cs typeface="Georgia"/>
                        <a:sym typeface="Georgia"/>
                      </a:endParaRPr>
                    </a:p>
                  </a:txBody>
                  <a:tcPr marT="91425" marB="91425" marR="91425" marL="91425"/>
                </a:tc>
              </a:tr>
            </a:tbl>
          </a:graphicData>
        </a:graphic>
      </p:graphicFrame>
      <p:pic>
        <p:nvPicPr>
          <p:cNvPr id="71" name="Google Shape;71;p15"/>
          <p:cNvPicPr preferRelativeResize="0"/>
          <p:nvPr/>
        </p:nvPicPr>
        <p:blipFill>
          <a:blip r:embed="rId3">
            <a:alphaModFix/>
          </a:blip>
          <a:stretch>
            <a:fillRect/>
          </a:stretch>
        </p:blipFill>
        <p:spPr>
          <a:xfrm>
            <a:off x="5016575" y="1235376"/>
            <a:ext cx="4053299" cy="2786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820">
                <a:latin typeface="Georgia"/>
                <a:ea typeface="Georgia"/>
                <a:cs typeface="Georgia"/>
                <a:sym typeface="Georgia"/>
              </a:rPr>
              <a:t>Objective</a:t>
            </a:r>
            <a:endParaRPr sz="2820">
              <a:latin typeface="Georgia"/>
              <a:ea typeface="Georgia"/>
              <a:cs typeface="Georgia"/>
              <a:sym typeface="Georgia"/>
            </a:endParaRPr>
          </a:p>
        </p:txBody>
      </p:sp>
      <p:sp>
        <p:nvSpPr>
          <p:cNvPr id="77" name="Google Shape;77;p16"/>
          <p:cNvSpPr txBox="1"/>
          <p:nvPr>
            <p:ph idx="1" type="body"/>
          </p:nvPr>
        </p:nvSpPr>
        <p:spPr>
          <a:xfrm>
            <a:off x="311700" y="1271025"/>
            <a:ext cx="5330700" cy="3551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400">
                <a:solidFill>
                  <a:schemeClr val="dk1"/>
                </a:solidFill>
                <a:latin typeface="Georgia"/>
                <a:ea typeface="Georgia"/>
                <a:cs typeface="Georgia"/>
                <a:sym typeface="Georgia"/>
              </a:rPr>
              <a:t>To validate the tool’s ability to:</a:t>
            </a:r>
            <a:endParaRPr sz="1400">
              <a:solidFill>
                <a:schemeClr val="dk1"/>
              </a:solidFill>
              <a:latin typeface="Georgia"/>
              <a:ea typeface="Georgia"/>
              <a:cs typeface="Georgia"/>
              <a:sym typeface="Georgia"/>
            </a:endParaRPr>
          </a:p>
          <a:p>
            <a:pPr indent="-317500" lvl="0" marL="457200" rtl="0" algn="l">
              <a:spcBef>
                <a:spcPts val="1200"/>
              </a:spcBef>
              <a:spcAft>
                <a:spcPts val="0"/>
              </a:spcAft>
              <a:buClr>
                <a:schemeClr val="dk1"/>
              </a:buClr>
              <a:buSzPts val="1400"/>
              <a:buFont typeface="Georgia"/>
              <a:buChar char="●"/>
            </a:pPr>
            <a:r>
              <a:rPr lang="en" sz="1400">
                <a:solidFill>
                  <a:schemeClr val="dk1"/>
                </a:solidFill>
                <a:latin typeface="Georgia"/>
                <a:ea typeface="Georgia"/>
                <a:cs typeface="Georgia"/>
                <a:sym typeface="Georgia"/>
              </a:rPr>
              <a:t>Reduce assessment and document analysis time</a:t>
            </a:r>
            <a:endParaRPr sz="1400">
              <a:solidFill>
                <a:schemeClr val="dk1"/>
              </a:solidFill>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 sz="1400">
                <a:solidFill>
                  <a:schemeClr val="dk1"/>
                </a:solidFill>
                <a:latin typeface="Georgia"/>
                <a:ea typeface="Georgia"/>
                <a:cs typeface="Georgia"/>
                <a:sym typeface="Georgia"/>
              </a:rPr>
              <a:t>Automate multi-framework evaluations</a:t>
            </a:r>
            <a:endParaRPr sz="1400">
              <a:solidFill>
                <a:schemeClr val="dk1"/>
              </a:solidFill>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 sz="1400">
                <a:solidFill>
                  <a:schemeClr val="dk1"/>
                </a:solidFill>
                <a:latin typeface="Georgia"/>
                <a:ea typeface="Georgia"/>
                <a:cs typeface="Georgia"/>
                <a:sym typeface="Georgia"/>
              </a:rPr>
              <a:t>Improve visibility into cybersecurity maturity</a:t>
            </a:r>
            <a:endParaRPr sz="1400">
              <a:solidFill>
                <a:schemeClr val="dk1"/>
              </a:solidFill>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 sz="1400">
                <a:solidFill>
                  <a:schemeClr val="dk1"/>
                </a:solidFill>
                <a:latin typeface="Georgia"/>
                <a:ea typeface="Georgia"/>
                <a:cs typeface="Georgia"/>
                <a:sym typeface="Georgia"/>
              </a:rPr>
              <a:t>Identify compliance gaps and improvement areas</a:t>
            </a:r>
            <a:endParaRPr sz="1400">
              <a:solidFill>
                <a:schemeClr val="dk1"/>
              </a:solidFill>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 sz="1400">
                <a:solidFill>
                  <a:schemeClr val="dk1"/>
                </a:solidFill>
                <a:latin typeface="Georgia"/>
                <a:ea typeface="Georgia"/>
                <a:cs typeface="Georgia"/>
                <a:sym typeface="Georgia"/>
              </a:rPr>
              <a:t>Generate auditable and explainable evidence</a:t>
            </a:r>
            <a:endParaRPr sz="1400">
              <a:solidFill>
                <a:schemeClr val="dk1"/>
              </a:solidFill>
              <a:latin typeface="Georgia"/>
              <a:ea typeface="Georgia"/>
              <a:cs typeface="Georgia"/>
              <a:sym typeface="Georgia"/>
            </a:endParaRPr>
          </a:p>
          <a:p>
            <a:pPr indent="-317500" lvl="0" marL="457200" rtl="0" algn="l">
              <a:spcBef>
                <a:spcPts val="0"/>
              </a:spcBef>
              <a:spcAft>
                <a:spcPts val="0"/>
              </a:spcAft>
              <a:buClr>
                <a:schemeClr val="dk1"/>
              </a:buClr>
              <a:buSzPts val="1400"/>
              <a:buFont typeface="Georgia"/>
              <a:buChar char="●"/>
            </a:pPr>
            <a:r>
              <a:rPr lang="en" sz="1400">
                <a:solidFill>
                  <a:schemeClr val="dk1"/>
                </a:solidFill>
                <a:latin typeface="Georgia"/>
                <a:ea typeface="Georgia"/>
                <a:cs typeface="Georgia"/>
                <a:sym typeface="Georgia"/>
              </a:rPr>
              <a:t>Support audit and governance processes</a:t>
            </a:r>
            <a:endParaRPr sz="1400">
              <a:solidFill>
                <a:schemeClr val="dk1"/>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 sz="1400">
                <a:solidFill>
                  <a:schemeClr val="dk1"/>
                </a:solidFill>
                <a:latin typeface="Georgia"/>
                <a:ea typeface="Georgia"/>
                <a:cs typeface="Georgia"/>
                <a:sym typeface="Georgia"/>
              </a:rPr>
              <a:t>The pilot evaluates the feasibility of using AI to support GRC and cybersecurity processes in a highly digitalized and critical organization such as an airline.</a:t>
            </a:r>
            <a:endParaRPr sz="1400">
              <a:solidFill>
                <a:schemeClr val="dk1"/>
              </a:solidFill>
              <a:latin typeface="Georgia"/>
              <a:ea typeface="Georgia"/>
              <a:cs typeface="Georgia"/>
              <a:sym typeface="Georgia"/>
            </a:endParaRPr>
          </a:p>
          <a:p>
            <a:pPr indent="0" lvl="0" marL="0" rtl="0" algn="l">
              <a:spcBef>
                <a:spcPts val="1200"/>
              </a:spcBef>
              <a:spcAft>
                <a:spcPts val="1200"/>
              </a:spcAft>
              <a:buClr>
                <a:schemeClr val="dk1"/>
              </a:buClr>
              <a:buSzPts val="1100"/>
              <a:buFont typeface="Arial"/>
              <a:buNone/>
            </a:pPr>
            <a:r>
              <a:t/>
            </a:r>
            <a:endParaRPr sz="1100">
              <a:solidFill>
                <a:schemeClr val="dk1"/>
              </a:solidFill>
            </a:endParaRPr>
          </a:p>
        </p:txBody>
      </p:sp>
      <p:pic>
        <p:nvPicPr>
          <p:cNvPr id="78" name="Google Shape;78;p16"/>
          <p:cNvPicPr preferRelativeResize="0"/>
          <p:nvPr/>
        </p:nvPicPr>
        <p:blipFill>
          <a:blip r:embed="rId3">
            <a:alphaModFix/>
          </a:blip>
          <a:stretch>
            <a:fillRect/>
          </a:stretch>
        </p:blipFill>
        <p:spPr>
          <a:xfrm>
            <a:off x="5832475" y="1821900"/>
            <a:ext cx="3153275" cy="1660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820">
                <a:latin typeface="Georgia"/>
                <a:ea typeface="Georgia"/>
                <a:cs typeface="Georgia"/>
                <a:sym typeface="Georgia"/>
              </a:rPr>
              <a:t>Tool</a:t>
            </a:r>
            <a:endParaRPr sz="2820">
              <a:latin typeface="Georgia"/>
              <a:ea typeface="Georgia"/>
              <a:cs typeface="Georgia"/>
              <a:sym typeface="Georgia"/>
            </a:endParaRPr>
          </a:p>
        </p:txBody>
      </p:sp>
      <p:sp>
        <p:nvSpPr>
          <p:cNvPr id="84" name="Google Shape;84;p17"/>
          <p:cNvSpPr txBox="1"/>
          <p:nvPr>
            <p:ph idx="1" type="body"/>
          </p:nvPr>
        </p:nvSpPr>
        <p:spPr>
          <a:xfrm>
            <a:off x="311700" y="1210000"/>
            <a:ext cx="4796100" cy="3779100"/>
          </a:xfrm>
          <a:prstGeom prst="rect">
            <a:avLst/>
          </a:prstGeom>
        </p:spPr>
        <p:txBody>
          <a:bodyPr anchorCtr="0" anchor="t" bIns="91425" lIns="91425" spcFirstLastPara="1" rIns="91425" wrap="square" tIns="91425">
            <a:normAutofit fontScale="32500" lnSpcReduction="10000"/>
          </a:bodyPr>
          <a:lstStyle/>
          <a:p>
            <a:pPr indent="0" lvl="0" marL="0" rtl="0" algn="l">
              <a:spcBef>
                <a:spcPts val="1200"/>
              </a:spcBef>
              <a:spcAft>
                <a:spcPts val="0"/>
              </a:spcAft>
              <a:buClr>
                <a:schemeClr val="dk1"/>
              </a:buClr>
              <a:buSzPct val="32180"/>
              <a:buFont typeface="Arial"/>
              <a:buNone/>
            </a:pPr>
            <a:r>
              <a:rPr lang="en" sz="3418">
                <a:solidFill>
                  <a:schemeClr val="dk1"/>
                </a:solidFill>
                <a:latin typeface="Georgia"/>
                <a:ea typeface="Georgia"/>
                <a:cs typeface="Georgia"/>
                <a:sym typeface="Georgia"/>
              </a:rPr>
              <a:t>The platform uses an architecture based on Large Language Models (LLMs), Retrieval-Augmented Generation (RAG), semantic policy analysis, structured explainability, and Human-in-the-Loop validation to ensure traceability, auditability, and oversight.</a:t>
            </a:r>
            <a:endParaRPr sz="3418">
              <a:solidFill>
                <a:schemeClr val="dk1"/>
              </a:solidFill>
              <a:latin typeface="Georgia"/>
              <a:ea typeface="Georgia"/>
              <a:cs typeface="Georgia"/>
              <a:sym typeface="Georgia"/>
            </a:endParaRPr>
          </a:p>
          <a:p>
            <a:pPr indent="0" lvl="0" marL="0" rtl="0" algn="l">
              <a:spcBef>
                <a:spcPts val="1200"/>
              </a:spcBef>
              <a:spcAft>
                <a:spcPts val="0"/>
              </a:spcAft>
              <a:buClr>
                <a:schemeClr val="dk1"/>
              </a:buClr>
              <a:buSzPct val="32180"/>
              <a:buFont typeface="Arial"/>
              <a:buNone/>
            </a:pPr>
            <a:r>
              <a:rPr lang="en" sz="3418">
                <a:solidFill>
                  <a:schemeClr val="dk1"/>
                </a:solidFill>
                <a:latin typeface="Georgia"/>
                <a:ea typeface="Georgia"/>
                <a:cs typeface="Georgia"/>
                <a:sym typeface="Georgia"/>
              </a:rPr>
              <a:t>The tool:</a:t>
            </a:r>
            <a:endParaRPr sz="3418">
              <a:solidFill>
                <a:schemeClr val="dk1"/>
              </a:solidFill>
              <a:latin typeface="Georgia"/>
              <a:ea typeface="Georgia"/>
              <a:cs typeface="Georgia"/>
              <a:sym typeface="Georgia"/>
            </a:endParaRPr>
          </a:p>
          <a:p>
            <a:pPr indent="-299144" lvl="0" marL="457200" rtl="0" algn="l">
              <a:spcBef>
                <a:spcPts val="1200"/>
              </a:spcBef>
              <a:spcAft>
                <a:spcPts val="0"/>
              </a:spcAft>
              <a:buClr>
                <a:schemeClr val="dk1"/>
              </a:buClr>
              <a:buSzPct val="100000"/>
              <a:buFont typeface="Georgia"/>
              <a:buChar char="●"/>
            </a:pPr>
            <a:r>
              <a:rPr lang="en" sz="3418">
                <a:solidFill>
                  <a:schemeClr val="dk1"/>
                </a:solidFill>
                <a:latin typeface="Georgia"/>
                <a:ea typeface="Georgia"/>
                <a:cs typeface="Georgia"/>
                <a:sym typeface="Georgia"/>
              </a:rPr>
              <a:t>Ingests organizational documentation</a:t>
            </a:r>
            <a:endParaRPr sz="3418">
              <a:solidFill>
                <a:schemeClr val="dk1"/>
              </a:solidFill>
              <a:latin typeface="Georgia"/>
              <a:ea typeface="Georgia"/>
              <a:cs typeface="Georgia"/>
              <a:sym typeface="Georgia"/>
            </a:endParaRPr>
          </a:p>
          <a:p>
            <a:pPr indent="-299144" lvl="0" marL="457200" rtl="0" algn="l">
              <a:spcBef>
                <a:spcPts val="0"/>
              </a:spcBef>
              <a:spcAft>
                <a:spcPts val="0"/>
              </a:spcAft>
              <a:buClr>
                <a:schemeClr val="dk1"/>
              </a:buClr>
              <a:buSzPct val="100000"/>
              <a:buFont typeface="Georgia"/>
              <a:buChar char="●"/>
            </a:pPr>
            <a:r>
              <a:rPr lang="en" sz="3418">
                <a:solidFill>
                  <a:schemeClr val="dk1"/>
                </a:solidFill>
                <a:latin typeface="Georgia"/>
                <a:ea typeface="Georgia"/>
                <a:cs typeface="Georgia"/>
                <a:sym typeface="Georgia"/>
              </a:rPr>
              <a:t>Segments and semantically vectorizes content</a:t>
            </a:r>
            <a:endParaRPr sz="3418">
              <a:solidFill>
                <a:schemeClr val="dk1"/>
              </a:solidFill>
              <a:latin typeface="Georgia"/>
              <a:ea typeface="Georgia"/>
              <a:cs typeface="Georgia"/>
              <a:sym typeface="Georgia"/>
            </a:endParaRPr>
          </a:p>
          <a:p>
            <a:pPr indent="-299144" lvl="0" marL="457200" rtl="0" algn="l">
              <a:spcBef>
                <a:spcPts val="0"/>
              </a:spcBef>
              <a:spcAft>
                <a:spcPts val="0"/>
              </a:spcAft>
              <a:buClr>
                <a:schemeClr val="dk1"/>
              </a:buClr>
              <a:buSzPct val="100000"/>
              <a:buFont typeface="Georgia"/>
              <a:buChar char="●"/>
            </a:pPr>
            <a:r>
              <a:rPr lang="en" sz="3418">
                <a:solidFill>
                  <a:schemeClr val="dk1"/>
                </a:solidFill>
                <a:latin typeface="Georgia"/>
                <a:ea typeface="Georgia"/>
                <a:cs typeface="Georgia"/>
                <a:sym typeface="Georgia"/>
              </a:rPr>
              <a:t>Retrieves evidence per control</a:t>
            </a:r>
            <a:endParaRPr sz="3418">
              <a:solidFill>
                <a:schemeClr val="dk1"/>
              </a:solidFill>
              <a:latin typeface="Georgia"/>
              <a:ea typeface="Georgia"/>
              <a:cs typeface="Georgia"/>
              <a:sym typeface="Georgia"/>
            </a:endParaRPr>
          </a:p>
          <a:p>
            <a:pPr indent="-299144" lvl="0" marL="457200" rtl="0" algn="l">
              <a:spcBef>
                <a:spcPts val="0"/>
              </a:spcBef>
              <a:spcAft>
                <a:spcPts val="0"/>
              </a:spcAft>
              <a:buClr>
                <a:schemeClr val="dk1"/>
              </a:buClr>
              <a:buSzPct val="100000"/>
              <a:buFont typeface="Georgia"/>
              <a:buChar char="●"/>
            </a:pPr>
            <a:r>
              <a:rPr lang="en" sz="3418">
                <a:solidFill>
                  <a:schemeClr val="dk1"/>
                </a:solidFill>
                <a:latin typeface="Georgia"/>
                <a:ea typeface="Georgia"/>
                <a:cs typeface="Georgia"/>
                <a:sym typeface="Georgia"/>
              </a:rPr>
              <a:t>Evaluates alignment with frameworks</a:t>
            </a:r>
            <a:endParaRPr sz="3418">
              <a:solidFill>
                <a:schemeClr val="dk1"/>
              </a:solidFill>
              <a:latin typeface="Georgia"/>
              <a:ea typeface="Georgia"/>
              <a:cs typeface="Georgia"/>
              <a:sym typeface="Georgia"/>
            </a:endParaRPr>
          </a:p>
          <a:p>
            <a:pPr indent="-299144" lvl="0" marL="457200" rtl="0" algn="l">
              <a:spcBef>
                <a:spcPts val="0"/>
              </a:spcBef>
              <a:spcAft>
                <a:spcPts val="0"/>
              </a:spcAft>
              <a:buClr>
                <a:schemeClr val="dk1"/>
              </a:buClr>
              <a:buSzPct val="100000"/>
              <a:buFont typeface="Georgia"/>
              <a:buChar char="●"/>
            </a:pPr>
            <a:r>
              <a:rPr lang="en" sz="3418">
                <a:solidFill>
                  <a:schemeClr val="dk1"/>
                </a:solidFill>
                <a:latin typeface="Georgia"/>
                <a:ea typeface="Georgia"/>
                <a:cs typeface="Georgia"/>
                <a:sym typeface="Georgia"/>
              </a:rPr>
              <a:t>Generates maturity scores (0–5)</a:t>
            </a:r>
            <a:endParaRPr sz="3418">
              <a:solidFill>
                <a:schemeClr val="dk1"/>
              </a:solidFill>
              <a:latin typeface="Georgia"/>
              <a:ea typeface="Georgia"/>
              <a:cs typeface="Georgia"/>
              <a:sym typeface="Georgia"/>
            </a:endParaRPr>
          </a:p>
          <a:p>
            <a:pPr indent="-299144" lvl="0" marL="457200" rtl="0" algn="l">
              <a:spcBef>
                <a:spcPts val="0"/>
              </a:spcBef>
              <a:spcAft>
                <a:spcPts val="0"/>
              </a:spcAft>
              <a:buClr>
                <a:schemeClr val="dk1"/>
              </a:buClr>
              <a:buSzPct val="100000"/>
              <a:buFont typeface="Georgia"/>
              <a:buChar char="●"/>
            </a:pPr>
            <a:r>
              <a:rPr lang="en" sz="3418">
                <a:solidFill>
                  <a:schemeClr val="dk1"/>
                </a:solidFill>
                <a:latin typeface="Georgia"/>
                <a:ea typeface="Georgia"/>
                <a:cs typeface="Georgia"/>
                <a:sym typeface="Georgia"/>
              </a:rPr>
              <a:t>Produces gap analyses and recommendations</a:t>
            </a:r>
            <a:endParaRPr sz="3418">
              <a:solidFill>
                <a:schemeClr val="dk1"/>
              </a:solidFill>
              <a:latin typeface="Georgia"/>
              <a:ea typeface="Georgia"/>
              <a:cs typeface="Georgia"/>
              <a:sym typeface="Georgia"/>
            </a:endParaRPr>
          </a:p>
          <a:p>
            <a:pPr indent="-299144" lvl="0" marL="457200" rtl="0" algn="l">
              <a:spcBef>
                <a:spcPts val="0"/>
              </a:spcBef>
              <a:spcAft>
                <a:spcPts val="0"/>
              </a:spcAft>
              <a:buClr>
                <a:schemeClr val="dk1"/>
              </a:buClr>
              <a:buSzPct val="100000"/>
              <a:buFont typeface="Georgia"/>
              <a:buChar char="●"/>
            </a:pPr>
            <a:r>
              <a:rPr lang="en" sz="3418">
                <a:solidFill>
                  <a:schemeClr val="dk1"/>
                </a:solidFill>
                <a:latin typeface="Georgia"/>
                <a:ea typeface="Georgia"/>
                <a:cs typeface="Georgia"/>
                <a:sym typeface="Georgia"/>
              </a:rPr>
              <a:t>Maintains traceability and explainability</a:t>
            </a:r>
            <a:endParaRPr sz="3418">
              <a:solidFill>
                <a:schemeClr val="dk1"/>
              </a:solidFill>
              <a:latin typeface="Georgia"/>
              <a:ea typeface="Georgia"/>
              <a:cs typeface="Georgia"/>
              <a:sym typeface="Georgia"/>
            </a:endParaRPr>
          </a:p>
          <a:p>
            <a:pPr indent="0" lvl="0" marL="0" rtl="0" algn="l">
              <a:spcBef>
                <a:spcPts val="1200"/>
              </a:spcBef>
              <a:spcAft>
                <a:spcPts val="0"/>
              </a:spcAft>
              <a:buClr>
                <a:schemeClr val="dk1"/>
              </a:buClr>
              <a:buSzPct val="32180"/>
              <a:buFont typeface="Arial"/>
              <a:buNone/>
            </a:pPr>
            <a:r>
              <a:rPr lang="en" sz="3418">
                <a:solidFill>
                  <a:schemeClr val="dk1"/>
                </a:solidFill>
                <a:latin typeface="Georgia"/>
                <a:ea typeface="Georgia"/>
                <a:cs typeface="Georgia"/>
                <a:sym typeface="Georgia"/>
              </a:rPr>
              <a:t>The design also reduces hallucinations by using RAG and restricting outputs to retrieved documentary evidence only.</a:t>
            </a:r>
            <a:endParaRPr sz="3418">
              <a:solidFill>
                <a:schemeClr val="dk1"/>
              </a:solidFill>
              <a:latin typeface="Georgia"/>
              <a:ea typeface="Georgia"/>
              <a:cs typeface="Georgia"/>
              <a:sym typeface="Georgia"/>
            </a:endParaRPr>
          </a:p>
          <a:p>
            <a:pPr indent="0" lvl="0" marL="0" rtl="0" algn="l">
              <a:spcBef>
                <a:spcPts val="1200"/>
              </a:spcBef>
              <a:spcAft>
                <a:spcPts val="0"/>
              </a:spcAft>
              <a:buClr>
                <a:schemeClr val="dk1"/>
              </a:buClr>
              <a:buSzPct val="100000"/>
              <a:buFont typeface="Arial"/>
              <a:buNone/>
            </a:pPr>
            <a:r>
              <a:t/>
            </a:r>
            <a:endParaRPr sz="1100">
              <a:solidFill>
                <a:schemeClr val="dk1"/>
              </a:solidFill>
            </a:endParaRPr>
          </a:p>
          <a:p>
            <a:pPr indent="0" lvl="0" marL="0" rtl="0" algn="l">
              <a:spcBef>
                <a:spcPts val="1200"/>
              </a:spcBef>
              <a:spcAft>
                <a:spcPts val="1200"/>
              </a:spcAft>
              <a:buNone/>
            </a:pPr>
            <a:r>
              <a:t/>
            </a:r>
            <a:endParaRPr/>
          </a:p>
        </p:txBody>
      </p:sp>
      <p:pic>
        <p:nvPicPr>
          <p:cNvPr id="85" name="Google Shape;85;p17"/>
          <p:cNvPicPr preferRelativeResize="0"/>
          <p:nvPr/>
        </p:nvPicPr>
        <p:blipFill>
          <a:blip r:embed="rId3">
            <a:alphaModFix/>
          </a:blip>
          <a:stretch>
            <a:fillRect/>
          </a:stretch>
        </p:blipFill>
        <p:spPr>
          <a:xfrm>
            <a:off x="5214625" y="1490875"/>
            <a:ext cx="3558900" cy="2310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820">
                <a:latin typeface="Georgia"/>
                <a:ea typeface="Georgia"/>
                <a:cs typeface="Georgia"/>
                <a:sym typeface="Georgia"/>
              </a:rPr>
              <a:t>Expected Benefits</a:t>
            </a:r>
            <a:endParaRPr sz="2820">
              <a:latin typeface="Georgia"/>
              <a:ea typeface="Georgia"/>
              <a:cs typeface="Georgia"/>
              <a:sym typeface="Georgia"/>
            </a:endParaRPr>
          </a:p>
        </p:txBody>
      </p:sp>
      <p:sp>
        <p:nvSpPr>
          <p:cNvPr id="91" name="Google Shape;91;p18"/>
          <p:cNvSpPr txBox="1"/>
          <p:nvPr>
            <p:ph idx="1" type="body"/>
          </p:nvPr>
        </p:nvSpPr>
        <p:spPr>
          <a:xfrm>
            <a:off x="311700" y="1318800"/>
            <a:ext cx="5485200" cy="38841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Clr>
                <a:schemeClr val="dk1"/>
              </a:buClr>
              <a:buSzPts val="1100"/>
              <a:buFont typeface="Arial"/>
              <a:buNone/>
            </a:pPr>
            <a:r>
              <a:rPr lang="en" sz="1100">
                <a:solidFill>
                  <a:schemeClr val="dk1"/>
                </a:solidFill>
                <a:latin typeface="Georgia"/>
                <a:ea typeface="Georgia"/>
                <a:cs typeface="Georgia"/>
                <a:sym typeface="Georgia"/>
              </a:rPr>
              <a:t>The pilot would provide strategic, operational, and technical benefits.</a:t>
            </a:r>
            <a:endParaRPr sz="1100">
              <a:solidFill>
                <a:schemeClr val="dk1"/>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 sz="1100">
                <a:solidFill>
                  <a:schemeClr val="dk1"/>
                </a:solidFill>
                <a:latin typeface="Georgia"/>
                <a:ea typeface="Georgia"/>
                <a:cs typeface="Georgia"/>
                <a:sym typeface="Georgia"/>
              </a:rPr>
              <a:t>From a strategic perspective, it would improve visibility into cybersecurity posture across multiple frameworks, strengthening governance, risk, and compliance processes. It would also support audits and regulatory interactions by generating structured, traceable evidence and enable a risk-based maturity and remediation roadmap.</a:t>
            </a:r>
            <a:endParaRPr sz="1100">
              <a:solidFill>
                <a:schemeClr val="dk1"/>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 sz="1100">
                <a:solidFill>
                  <a:schemeClr val="dk1"/>
                </a:solidFill>
                <a:latin typeface="Georgia"/>
                <a:ea typeface="Georgia"/>
                <a:cs typeface="Georgia"/>
                <a:sym typeface="Georgia"/>
              </a:rPr>
              <a:t>At the operational level, the tool would reduce time spent on assessments and document review, automate GRC workflows, standardize evaluations, and improve consistency. It would also help identify compliance gaps and prioritize remediation based on impact and criticality.</a:t>
            </a:r>
            <a:endParaRPr sz="1100">
              <a:solidFill>
                <a:schemeClr val="dk1"/>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 sz="1100">
                <a:solidFill>
                  <a:schemeClr val="dk1"/>
                </a:solidFill>
                <a:latin typeface="Georgia"/>
                <a:ea typeface="Georgia"/>
                <a:cs typeface="Georgia"/>
                <a:sym typeface="Georgia"/>
              </a:rPr>
              <a:t>From a technical perspective, the solution relies on evidence-based, auditable, and explainable outputs. It reduces inconsistencies from manual analysis and provides scalability for evaluating multiple cybersecurity and compliance domains within a single environment.</a:t>
            </a:r>
            <a:endParaRPr sz="1100">
              <a:solidFill>
                <a:schemeClr val="dk1"/>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1200"/>
              </a:spcBef>
              <a:spcAft>
                <a:spcPts val="1200"/>
              </a:spcAft>
              <a:buNone/>
            </a:pPr>
            <a:r>
              <a:t/>
            </a:r>
            <a:endParaRPr/>
          </a:p>
        </p:txBody>
      </p:sp>
      <p:pic>
        <p:nvPicPr>
          <p:cNvPr id="92" name="Google Shape;92;p18"/>
          <p:cNvPicPr preferRelativeResize="0"/>
          <p:nvPr/>
        </p:nvPicPr>
        <p:blipFill>
          <a:blip r:embed="rId3">
            <a:alphaModFix/>
          </a:blip>
          <a:stretch>
            <a:fillRect/>
          </a:stretch>
        </p:blipFill>
        <p:spPr>
          <a:xfrm>
            <a:off x="5886952" y="1551425"/>
            <a:ext cx="2945350" cy="2217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